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6"/>
  </p:handoutMasterIdLst>
  <p:sldIdLst>
    <p:sldId id="256" r:id="rId3"/>
    <p:sldId id="281" r:id="rId5"/>
    <p:sldId id="285" r:id="rId6"/>
    <p:sldId id="282" r:id="rId7"/>
    <p:sldId id="287" r:id="rId8"/>
    <p:sldId id="284" r:id="rId9"/>
    <p:sldId id="266" r:id="rId10"/>
    <p:sldId id="270" r:id="rId11"/>
    <p:sldId id="268" r:id="rId12"/>
    <p:sldId id="261" r:id="rId13"/>
    <p:sldId id="271" r:id="rId14"/>
    <p:sldId id="264" r:id="rId15"/>
    <p:sldId id="288" r:id="rId16"/>
    <p:sldId id="292" r:id="rId17"/>
    <p:sldId id="293" r:id="rId18"/>
    <p:sldId id="262" r:id="rId19"/>
    <p:sldId id="279" r:id="rId20"/>
    <p:sldId id="289" r:id="rId21"/>
    <p:sldId id="278" r:id="rId22"/>
    <p:sldId id="290" r:id="rId23"/>
    <p:sldId id="280" r:id="rId24"/>
    <p:sldId id="260" r:id="rId25"/>
  </p:sldIdLst>
  <p:sldSz cx="12192000" cy="6858000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58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EB198"/>
    <a:srgbClr val="74CEBB"/>
    <a:srgbClr val="B8E6DC"/>
    <a:srgbClr val="2B7D6B"/>
    <a:srgbClr val="3030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586"/>
    <p:restoredTop sz="77142"/>
  </p:normalViewPr>
  <p:slideViewPr>
    <p:cSldViewPr snapToGrid="0" showGuides="1">
      <p:cViewPr varScale="1">
        <p:scale>
          <a:sx n="58" d="100"/>
          <a:sy n="58" d="100"/>
        </p:scale>
        <p:origin x="912" y="42"/>
      </p:cViewPr>
      <p:guideLst>
        <p:guide orient="horz" pos="1958"/>
        <p:guide pos="384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 showFormatting="0"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handoutMaster" Target="handoutMasters/handoutMaster1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base"/>
            <a:fld id="{0F9B84EA-7D68-4D60-9CB1-D50884785D1C}" type="datetimeFigureOut">
              <a:rPr lang="zh-CN" altLang="en-US" strike="noStrike" noProof="1" smtClean="0">
                <a:latin typeface="Calibri" panose="020F0502020204030204" pitchFamily="34" charset="0"/>
                <a:ea typeface="SimSun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base"/>
            <a:fld id="{8D4E0FC9-F1F8-4FAE-9988-3BA365CFD46F}" type="slidenum">
              <a:rPr lang="zh-CN" altLang="en-US" strike="noStrike" noProof="1" smtClean="0">
                <a:latin typeface="Calibri" panose="020F0502020204030204" pitchFamily="34" charset="0"/>
                <a:ea typeface="SimSun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95A747-8555-4E19-AB85-A3E1B43E6E4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5122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>
              <a:spcBef>
                <a:spcPct val="0"/>
              </a:spcBef>
            </a:pPr>
            <a:r>
              <a:rPr lang="zh-CN" altLang="en-US" dirty="0"/>
              <a:t>封面标题特殊字体为百度简综艺.可以自行下载使用或改为微软雅黑.</a:t>
            </a:r>
            <a:endParaRPr lang="zh-CN" altLang="en-US" dirty="0"/>
          </a:p>
        </p:txBody>
      </p:sp>
      <p:sp>
        <p:nvSpPr>
          <p:cNvPr id="512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 anchorCtr="0"/>
          <a:p>
            <a:pPr lvl="0" indent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幻灯片图像占位符 1"/>
          <p:cNvSpPr/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20482" name="文本占位符 2"/>
          <p:cNvSpPr/>
          <p:nvPr>
            <p:ph type="body"/>
          </p:nvPr>
        </p:nvSpPr>
        <p:spPr>
          <a:noFill/>
          <a:ln>
            <a:noFill/>
          </a:ln>
        </p:spPr>
        <p:txBody>
          <a:bodyPr lIns="91440" tIns="45720" rIns="91440" bIns="45720" anchor="t" anchorCtr="0"/>
          <a:p>
            <a:pPr lvl="0"/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auto"/>
            <a:r>
              <a:rPr lang="zh-CN" altLang="en-US" strike="noStrike" noProof="1" smtClean="0">
                <a:sym typeface="+mn-ea"/>
              </a:rPr>
              <a:t>Click here to edit the master title style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 smtClean="0">
                <a:sym typeface="+mn-ea"/>
              </a:rPr>
              <a:t>Click here to edit the master subtitle style</a:t>
            </a:r>
            <a:endParaRPr lang="zh-CN" alt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13C529C-DDB8-49AC-A154-90DB020AC32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>
                <a:sym typeface="+mn-ea"/>
              </a:rPr>
              <a:t>Click here to edit the master title style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1" fontAlgn="auto"/>
            <a:r>
              <a:rPr lang="zh-CN" altLang="en-US" sz="2800" strike="noStrike" noProof="1" dirty="0">
                <a:sym typeface="+mn-ea"/>
              </a:rPr>
              <a:t>Click here to edit the master text style</a:t>
            </a:r>
            <a:endParaRPr lang="zh-CN" altLang="en-US" sz="2800" strike="noStrike" noProof="1" dirty="0"/>
          </a:p>
          <a:p>
            <a:pPr lvl="1" fontAlgn="auto"/>
            <a:r>
              <a:rPr lang="zh-CN" altLang="en-US" sz="2800" strike="noStrike" noProof="1" dirty="0">
                <a:sym typeface="+mn-ea"/>
              </a:rPr>
              <a:t>The second level</a:t>
            </a:r>
            <a:endParaRPr lang="zh-CN" altLang="en-US" sz="2800" strike="noStrike" noProof="1" dirty="0"/>
          </a:p>
          <a:p>
            <a:pPr lvl="2" fontAlgn="auto"/>
            <a:r>
              <a:rPr lang="zh-CN" altLang="en-US" sz="2800" strike="noStrike" noProof="1" dirty="0">
                <a:sym typeface="+mn-ea"/>
              </a:rPr>
              <a:t>The third level</a:t>
            </a:r>
            <a:endParaRPr lang="zh-CN" altLang="en-US" sz="2800" strike="noStrike" noProof="1" dirty="0"/>
          </a:p>
          <a:p>
            <a:pPr lvl="3" fontAlgn="auto"/>
            <a:r>
              <a:rPr lang="zh-CN" altLang="en-US" sz="2800" strike="noStrike" noProof="1" dirty="0">
                <a:sym typeface="+mn-ea"/>
              </a:rPr>
              <a:t>The fourth level</a:t>
            </a:r>
            <a:endParaRPr lang="zh-CN" altLang="en-US" sz="2800" strike="noStrike" noProof="1" dirty="0"/>
          </a:p>
          <a:p>
            <a:pPr lvl="4" fontAlgn="auto"/>
            <a:r>
              <a:rPr lang="zh-CN" altLang="en-US" sz="2800" strike="noStrike" noProof="1" dirty="0">
                <a:sym typeface="+mn-ea"/>
              </a:rPr>
              <a:t>Fifth level</a:t>
            </a:r>
            <a:endParaRPr lang="zh-CN" alt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13C529C-DDB8-49AC-A154-90DB020AC32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30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/>
              <a:t>Click here to edit the master title style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1" indent="-228600"/>
            <a:r>
              <a:rPr lang="zh-CN" altLang="en-US" dirty="0"/>
              <a:t>Click here to edit the master text style</a:t>
            </a:r>
            <a:endParaRPr lang="zh-CN" altLang="en-US" dirty="0"/>
          </a:p>
          <a:p>
            <a:pPr lvl="1" indent="-228600"/>
            <a:r>
              <a:rPr lang="zh-CN" altLang="en-US" dirty="0"/>
              <a:t>The second level</a:t>
            </a:r>
            <a:endParaRPr lang="zh-CN" altLang="en-US" dirty="0"/>
          </a:p>
          <a:p>
            <a:pPr lvl="2" indent="-228600"/>
            <a:r>
              <a:rPr lang="zh-CN" altLang="en-US" dirty="0"/>
              <a:t>The third level</a:t>
            </a:r>
            <a:endParaRPr lang="zh-CN" altLang="en-US" dirty="0"/>
          </a:p>
          <a:p>
            <a:pPr lvl="3" indent="-228600"/>
            <a:r>
              <a:rPr lang="zh-CN" altLang="en-US" dirty="0"/>
              <a:t>The fourth level</a:t>
            </a:r>
            <a:endParaRPr lang="zh-CN" altLang="en-US" dirty="0"/>
          </a:p>
          <a:p>
            <a:pPr lvl="4" indent="-228600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13C529C-DDB8-49AC-A154-90DB020AC32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/>
        </p:nvSpPr>
        <p:spPr>
          <a:xfrm>
            <a:off x="0" y="6419850"/>
            <a:ext cx="12192000" cy="438150"/>
          </a:xfrm>
          <a:prstGeom prst="rect">
            <a:avLst/>
          </a:prstGeom>
          <a:solidFill>
            <a:srgbClr val="3EB1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098" name="文本框 7"/>
          <p:cNvSpPr txBox="1"/>
          <p:nvPr/>
        </p:nvSpPr>
        <p:spPr>
          <a:xfrm>
            <a:off x="7314565" y="4187508"/>
            <a:ext cx="3082925" cy="39878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l"/>
            <a:r>
              <a:rPr lang="en-IN" altLang="en-US" sz="2000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Team Details:</a:t>
            </a:r>
            <a:endParaRPr lang="en-IN" altLang="en-US" sz="2000" dirty="0">
              <a:solidFill>
                <a:schemeClr val="bg1"/>
              </a:solidFill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4099" name="文本框 25"/>
          <p:cNvSpPr txBox="1"/>
          <p:nvPr/>
        </p:nvSpPr>
        <p:spPr>
          <a:xfrm>
            <a:off x="2675255" y="2501900"/>
            <a:ext cx="6841490" cy="860425"/>
          </a:xfrm>
          <a:prstGeom prst="rect">
            <a:avLst/>
          </a:prstGeom>
          <a:solidFill>
            <a:srgbClr val="3EB198"/>
          </a:solidFill>
          <a:ln w="9525">
            <a:noFill/>
          </a:ln>
        </p:spPr>
        <p:txBody>
          <a:bodyPr wrap="square" anchor="t" anchorCtr="0">
            <a:spAutoFit/>
          </a:bodyPr>
          <a:p>
            <a:pPr algn="ctr"/>
            <a:r>
              <a:rPr lang="en-IN" altLang="en-US" sz="5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Auto MoM System</a:t>
            </a:r>
            <a:endParaRPr lang="en-IN" altLang="en-US" sz="5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100" name="文本框 4"/>
          <p:cNvSpPr txBox="1"/>
          <p:nvPr/>
        </p:nvSpPr>
        <p:spPr>
          <a:xfrm>
            <a:off x="1855153" y="1089025"/>
            <a:ext cx="8481060" cy="101473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IN" altLang="en-US" sz="6000" b="1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System Design Review</a:t>
            </a:r>
            <a:endParaRPr lang="en-IN" altLang="en-US" sz="6000" b="1" dirty="0">
              <a:solidFill>
                <a:schemeClr val="bg1"/>
              </a:solidFill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graphicFrame>
        <p:nvGraphicFramePr>
          <p:cNvPr id="2" name="Table 1"/>
          <p:cNvGraphicFramePr/>
          <p:nvPr>
            <p:custDataLst>
              <p:tags r:id="rId1"/>
            </p:custDataLst>
          </p:nvPr>
        </p:nvGraphicFramePr>
        <p:xfrm>
          <a:off x="7314565" y="4586605"/>
          <a:ext cx="5104130" cy="1584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52065"/>
                <a:gridCol w="2552065"/>
              </a:tblGrid>
              <a:tr h="0"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GB" sz="2000">
                          <a:solidFill>
                            <a:schemeClr val="bg1"/>
                          </a:solidFill>
                        </a:rPr>
                        <a:t>Ch. Krishna Chaitanya</a:t>
                      </a:r>
                      <a:endParaRPr lang="en-IN" altLang="en-GB" sz="200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GB" sz="2000">
                          <a:solidFill>
                            <a:schemeClr val="bg1"/>
                          </a:solidFill>
                        </a:rPr>
                        <a:t>22071A66E2</a:t>
                      </a:r>
                      <a:endParaRPr lang="en-IN" altLang="en-GB" sz="200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GB" sz="2000">
                          <a:solidFill>
                            <a:schemeClr val="bg1"/>
                          </a:solidFill>
                        </a:rPr>
                        <a:t>D. Deepak</a:t>
                      </a:r>
                      <a:endParaRPr lang="en-IN" altLang="en-GB" sz="200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GB" sz="2000">
                          <a:solidFill>
                            <a:schemeClr val="bg1"/>
                          </a:solidFill>
                        </a:rPr>
                        <a:t>22071A66E7</a:t>
                      </a:r>
                      <a:endParaRPr lang="en-IN" altLang="en-GB" sz="200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GB" sz="2000">
                          <a:solidFill>
                            <a:schemeClr val="bg1"/>
                          </a:solidFill>
                        </a:rPr>
                        <a:t>K. Reshwanth</a:t>
                      </a:r>
                      <a:endParaRPr lang="en-IN" altLang="en-GB" sz="200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GB" sz="2000">
                          <a:solidFill>
                            <a:schemeClr val="bg1"/>
                          </a:solidFill>
                        </a:rPr>
                        <a:t>22071A66G3</a:t>
                      </a:r>
                      <a:endParaRPr lang="en-IN" altLang="en-GB" sz="200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GB" sz="2000">
                          <a:solidFill>
                            <a:schemeClr val="bg1"/>
                          </a:solidFill>
                        </a:rPr>
                        <a:t>L. Manikumar</a:t>
                      </a:r>
                      <a:endParaRPr lang="en-IN" altLang="en-GB" sz="200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GB" sz="2000">
                          <a:solidFill>
                            <a:schemeClr val="bg1"/>
                          </a:solidFill>
                        </a:rPr>
                        <a:t>22071A66G4</a:t>
                      </a:r>
                      <a:endParaRPr lang="en-IN" altLang="en-GB" sz="200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文本框 7"/>
          <p:cNvSpPr txBox="1"/>
          <p:nvPr/>
        </p:nvSpPr>
        <p:spPr>
          <a:xfrm>
            <a:off x="458470" y="4314508"/>
            <a:ext cx="3082925" cy="70675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l"/>
            <a:r>
              <a:rPr lang="en-IN" altLang="en-US" sz="2000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Guide Name:</a:t>
            </a:r>
            <a:endParaRPr lang="en-IN" altLang="en-US" sz="2000" dirty="0">
              <a:solidFill>
                <a:schemeClr val="bg1"/>
              </a:solidFill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algn="l"/>
            <a:r>
              <a:rPr lang="en-US" altLang="en-GB" sz="2000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Mrs. </a:t>
            </a:r>
            <a:r>
              <a:rPr lang="en-IN" altLang="en-US" sz="2000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B. </a:t>
            </a:r>
            <a:r>
              <a:rPr lang="en-US" altLang="en-GB" sz="2000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Bhagyas</a:t>
            </a:r>
            <a:r>
              <a:rPr lang="en-IN" altLang="en-US" sz="2000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h</a:t>
            </a:r>
            <a:r>
              <a:rPr lang="en-US" altLang="en-GB" sz="2000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ree</a:t>
            </a:r>
            <a:endParaRPr lang="en-US" altLang="en-GB" sz="2000" dirty="0">
              <a:solidFill>
                <a:schemeClr val="bg1"/>
              </a:solidFill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文本框 4"/>
          <p:cNvSpPr txBox="1"/>
          <p:nvPr/>
        </p:nvSpPr>
        <p:spPr>
          <a:xfrm>
            <a:off x="3971925" y="1822450"/>
            <a:ext cx="1603375" cy="31543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19900" b="1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1</a:t>
            </a:r>
            <a:endParaRPr lang="zh-CN" altLang="en-US" sz="19900" b="1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7170" name="文本框 34"/>
          <p:cNvSpPr txBox="1"/>
          <p:nvPr/>
        </p:nvSpPr>
        <p:spPr>
          <a:xfrm>
            <a:off x="5884863" y="3840163"/>
            <a:ext cx="183134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IN" altLang="zh-CN" sz="3200" b="1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Abstract</a:t>
            </a:r>
            <a:endParaRPr lang="en-IN" altLang="zh-CN" sz="3200" b="1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8" name="等腰三角形 7"/>
          <p:cNvSpPr/>
          <p:nvPr/>
        </p:nvSpPr>
        <p:spPr>
          <a:xfrm rot="10800000">
            <a:off x="7002463" y="0"/>
            <a:ext cx="3008313" cy="2593975"/>
          </a:xfrm>
          <a:prstGeom prst="triangle">
            <a:avLst/>
          </a:prstGeom>
          <a:solidFill>
            <a:srgbClr val="3EB1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8" name="等腰三角形 37"/>
          <p:cNvSpPr/>
          <p:nvPr/>
        </p:nvSpPr>
        <p:spPr>
          <a:xfrm>
            <a:off x="1452563" y="4264025"/>
            <a:ext cx="3008313" cy="2593975"/>
          </a:xfrm>
          <a:prstGeom prst="triangle">
            <a:avLst/>
          </a:prstGeom>
          <a:solidFill>
            <a:srgbClr val="3EB1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173" name="文本框 38"/>
          <p:cNvSpPr txBox="1"/>
          <p:nvPr/>
        </p:nvSpPr>
        <p:spPr>
          <a:xfrm>
            <a:off x="6013450" y="3316288"/>
            <a:ext cx="1979613" cy="5238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800" dirty="0">
                <a:solidFill>
                  <a:srgbClr val="30302F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PART ONE</a:t>
            </a:r>
            <a:endParaRPr lang="zh-CN" altLang="en-US" sz="2800" dirty="0">
              <a:solidFill>
                <a:srgbClr val="30302F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4" name="直角三角形 13"/>
          <p:cNvSpPr/>
          <p:nvPr/>
        </p:nvSpPr>
        <p:spPr>
          <a:xfrm rot="10800000" flipH="1">
            <a:off x="8499475" y="-9525"/>
            <a:ext cx="1511300" cy="2603500"/>
          </a:xfrm>
          <a:prstGeom prst="rtTriangle">
            <a:avLst/>
          </a:prstGeom>
          <a:solidFill>
            <a:srgbClr val="30302F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0" name="直角三角形 39"/>
          <p:cNvSpPr/>
          <p:nvPr/>
        </p:nvSpPr>
        <p:spPr>
          <a:xfrm flipH="1">
            <a:off x="1446213" y="4241800"/>
            <a:ext cx="1512888" cy="2601913"/>
          </a:xfrm>
          <a:prstGeom prst="rtTriangle">
            <a:avLst/>
          </a:prstGeom>
          <a:solidFill>
            <a:srgbClr val="30302F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219" name="组合 6"/>
          <p:cNvGrpSpPr/>
          <p:nvPr/>
        </p:nvGrpSpPr>
        <p:grpSpPr>
          <a:xfrm>
            <a:off x="0" y="377825"/>
            <a:ext cx="1001713" cy="522288"/>
            <a:chOff x="0" y="377371"/>
            <a:chExt cx="1988458" cy="522515"/>
          </a:xfrm>
        </p:grpSpPr>
        <p:sp>
          <p:nvSpPr>
            <p:cNvPr id="4" name="矩形 3"/>
            <p:cNvSpPr/>
            <p:nvPr/>
          </p:nvSpPr>
          <p:spPr>
            <a:xfrm>
              <a:off x="0" y="377371"/>
              <a:ext cx="1988458" cy="522514"/>
            </a:xfrm>
            <a:prstGeom prst="rect">
              <a:avLst/>
            </a:prstGeom>
            <a:solidFill>
              <a:srgbClr val="3EB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直角三角形 5"/>
            <p:cNvSpPr/>
            <p:nvPr/>
          </p:nvSpPr>
          <p:spPr>
            <a:xfrm flipH="1">
              <a:off x="0" y="377372"/>
              <a:ext cx="1988458" cy="522514"/>
            </a:xfrm>
            <a:prstGeom prst="rtTriangle">
              <a:avLst/>
            </a:prstGeom>
            <a:solidFill>
              <a:srgbClr val="30302F">
                <a:alpha val="4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" name="Text Box 2"/>
          <p:cNvSpPr txBox="1"/>
          <p:nvPr/>
        </p:nvSpPr>
        <p:spPr>
          <a:xfrm>
            <a:off x="1125855" y="900430"/>
            <a:ext cx="10250805" cy="53232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GB" sz="2000">
                <a:solidFill>
                  <a:schemeClr val="bg1"/>
                </a:solidFill>
              </a:rPr>
              <a:t>Problem: Manual Minutes of Meeting (MoM) are time-consuming, error-prone, and disconnect conversations from actionable documentation.</a:t>
            </a:r>
            <a:endParaRPr lang="en-US" altLang="en-GB" sz="200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en-GB" sz="200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GB" sz="2000">
                <a:solidFill>
                  <a:schemeClr val="bg1"/>
                </a:solidFill>
              </a:rPr>
              <a:t>Solution (AutoMoM): An AI-driven end-to-end system that records, transcribes, summarizes, classifies action items, and formats professional MoMs automatically.</a:t>
            </a:r>
            <a:endParaRPr lang="en-US" altLang="en-GB" sz="200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en-GB" sz="200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GB" sz="2000">
                <a:solidFill>
                  <a:schemeClr val="bg1"/>
                </a:solidFill>
              </a:rPr>
              <a:t>Core pipeline: Real-time/recorded speech recognition (e.g., Whisper), NLP/LLM summarization (e.g., GPT-4) and action-item / decision extraction.</a:t>
            </a:r>
            <a:endParaRPr lang="en-US" altLang="en-GB" sz="200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en-GB" sz="200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GB" sz="2000">
                <a:solidFill>
                  <a:schemeClr val="bg1"/>
                </a:solidFill>
              </a:rPr>
              <a:t>Integrations: OAuth-based connectors to fetch recordings from Zoom, Google Meet (can extend to Teams, Webex).</a:t>
            </a:r>
            <a:endParaRPr lang="en-US" altLang="en-GB" sz="200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en-GB" sz="200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GB" sz="2000">
                <a:solidFill>
                  <a:schemeClr val="bg1"/>
                </a:solidFill>
              </a:rPr>
              <a:t>Outputs: Structured MoM documents (plain text, Markdown, PDF, DOCX), export, archive, or email/share to participants.</a:t>
            </a:r>
            <a:endParaRPr lang="en-US" altLang="en-GB" sz="200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en-GB" sz="200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GB" sz="2000">
                <a:solidFill>
                  <a:schemeClr val="bg1"/>
                </a:solidFill>
              </a:rPr>
              <a:t>Security &amp; privacy: OAuth for account access, encrypted storage/transfer, configurable retention and access controls</a:t>
            </a:r>
            <a:endParaRPr lang="en-US" altLang="en-GB" sz="20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文本框 4"/>
          <p:cNvSpPr txBox="1"/>
          <p:nvPr/>
        </p:nvSpPr>
        <p:spPr>
          <a:xfrm>
            <a:off x="3971925" y="1822450"/>
            <a:ext cx="1588135" cy="315341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IN" altLang="zh-CN" sz="19900" b="1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2</a:t>
            </a:r>
            <a:endParaRPr lang="en-IN" altLang="zh-CN" sz="19900" b="1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7170" name="文本框 34"/>
          <p:cNvSpPr txBox="1"/>
          <p:nvPr/>
        </p:nvSpPr>
        <p:spPr>
          <a:xfrm>
            <a:off x="5884863" y="3840163"/>
            <a:ext cx="5536565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IN" altLang="zh-CN" sz="3200" b="1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Literature Review Summary</a:t>
            </a:r>
            <a:endParaRPr lang="en-IN" altLang="zh-CN" sz="3200" b="1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8" name="等腰三角形 7"/>
          <p:cNvSpPr/>
          <p:nvPr/>
        </p:nvSpPr>
        <p:spPr>
          <a:xfrm rot="10800000">
            <a:off x="7002463" y="0"/>
            <a:ext cx="3008313" cy="2593975"/>
          </a:xfrm>
          <a:prstGeom prst="triangle">
            <a:avLst/>
          </a:prstGeom>
          <a:solidFill>
            <a:srgbClr val="3EB1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8" name="等腰三角形 37"/>
          <p:cNvSpPr/>
          <p:nvPr/>
        </p:nvSpPr>
        <p:spPr>
          <a:xfrm>
            <a:off x="1452563" y="4264025"/>
            <a:ext cx="3008313" cy="2593975"/>
          </a:xfrm>
          <a:prstGeom prst="triangle">
            <a:avLst/>
          </a:prstGeom>
          <a:solidFill>
            <a:srgbClr val="3EB1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173" name="文本框 38"/>
          <p:cNvSpPr txBox="1"/>
          <p:nvPr/>
        </p:nvSpPr>
        <p:spPr>
          <a:xfrm>
            <a:off x="6013450" y="3316288"/>
            <a:ext cx="2019935" cy="52197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800" dirty="0">
                <a:solidFill>
                  <a:srgbClr val="30302F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PART </a:t>
            </a:r>
            <a:r>
              <a:rPr lang="en-IN" altLang="en-US" sz="2800" dirty="0">
                <a:solidFill>
                  <a:srgbClr val="30302F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TWO</a:t>
            </a:r>
            <a:endParaRPr lang="en-IN" altLang="en-US" sz="2800" dirty="0">
              <a:solidFill>
                <a:srgbClr val="30302F"/>
              </a:solidFill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4" name="直角三角形 13"/>
          <p:cNvSpPr/>
          <p:nvPr/>
        </p:nvSpPr>
        <p:spPr>
          <a:xfrm rot="10800000" flipH="1">
            <a:off x="8499475" y="-9525"/>
            <a:ext cx="1511300" cy="2603500"/>
          </a:xfrm>
          <a:prstGeom prst="rtTriangle">
            <a:avLst/>
          </a:prstGeom>
          <a:solidFill>
            <a:srgbClr val="30302F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0" name="直角三角形 39"/>
          <p:cNvSpPr/>
          <p:nvPr/>
        </p:nvSpPr>
        <p:spPr>
          <a:xfrm flipH="1">
            <a:off x="1446213" y="4241800"/>
            <a:ext cx="1512888" cy="2601913"/>
          </a:xfrm>
          <a:prstGeom prst="rtTriangle">
            <a:avLst/>
          </a:prstGeom>
          <a:solidFill>
            <a:srgbClr val="30302F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219" name="组合 6"/>
          <p:cNvGrpSpPr/>
          <p:nvPr/>
        </p:nvGrpSpPr>
        <p:grpSpPr>
          <a:xfrm>
            <a:off x="0" y="377825"/>
            <a:ext cx="1001713" cy="522288"/>
            <a:chOff x="0" y="377371"/>
            <a:chExt cx="1988458" cy="522515"/>
          </a:xfrm>
        </p:grpSpPr>
        <p:sp>
          <p:nvSpPr>
            <p:cNvPr id="4" name="矩形 3"/>
            <p:cNvSpPr/>
            <p:nvPr/>
          </p:nvSpPr>
          <p:spPr>
            <a:xfrm>
              <a:off x="0" y="377371"/>
              <a:ext cx="1988458" cy="522514"/>
            </a:xfrm>
            <a:prstGeom prst="rect">
              <a:avLst/>
            </a:prstGeom>
            <a:solidFill>
              <a:srgbClr val="3EB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直角三角形 5"/>
            <p:cNvSpPr/>
            <p:nvPr/>
          </p:nvSpPr>
          <p:spPr>
            <a:xfrm flipH="1">
              <a:off x="0" y="377372"/>
              <a:ext cx="1988458" cy="522514"/>
            </a:xfrm>
            <a:prstGeom prst="rtTriangle">
              <a:avLst/>
            </a:prstGeom>
            <a:solidFill>
              <a:srgbClr val="30302F">
                <a:alpha val="4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" name="Text Box 2"/>
          <p:cNvSpPr txBox="1"/>
          <p:nvPr/>
        </p:nvSpPr>
        <p:spPr>
          <a:xfrm>
            <a:off x="1125855" y="755650"/>
            <a:ext cx="10250805" cy="59391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GB" sz="2000">
                <a:solidFill>
                  <a:schemeClr val="bg1"/>
                </a:solidFill>
              </a:rPr>
              <a:t>Trend: Summarization has shifted from classical methods to advanced neural models, with Large Language Models (LLMs) delivering substantially better coherence and fluency.</a:t>
            </a:r>
            <a:endParaRPr lang="en-US" altLang="en-GB" sz="2000">
              <a:solidFill>
                <a:schemeClr val="bg1"/>
              </a:solidFill>
            </a:endParaRPr>
          </a:p>
          <a:p>
            <a:pPr algn="just"/>
            <a:endParaRPr lang="en-US" altLang="en-GB" sz="2000">
              <a:solidFill>
                <a:schemeClr val="bg1"/>
              </a:solidFill>
            </a:endParaRPr>
          </a:p>
          <a:p>
            <a:pPr algn="just"/>
            <a:r>
              <a:rPr lang="en-US" altLang="en-GB" sz="2000">
                <a:solidFill>
                  <a:schemeClr val="bg1"/>
                </a:solidFill>
              </a:rPr>
              <a:t>Modern LLM approaches (3 categories):</a:t>
            </a:r>
            <a:endParaRPr lang="en-US" altLang="en-GB" sz="200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GB" sz="2000">
                <a:solidFill>
                  <a:schemeClr val="bg1"/>
                </a:solidFill>
              </a:rPr>
              <a:t>Prompt engineering — crafting inputs to steer LLM outputs without changing model weights.</a:t>
            </a:r>
            <a:endParaRPr lang="en-US" altLang="en-GB" sz="200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GB" sz="2000">
                <a:solidFill>
                  <a:schemeClr val="bg1"/>
                </a:solidFill>
              </a:rPr>
              <a:t>Fine-tuning — adapting model weights on task-specific data for improved performance.</a:t>
            </a:r>
            <a:endParaRPr lang="en-US" altLang="en-GB" sz="200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GB" sz="2000">
                <a:solidFill>
                  <a:schemeClr val="bg1"/>
                </a:solidFill>
              </a:rPr>
              <a:t>Knowledge distillation — training smaller/specialized models to mimic a larger LLM’s behavior.</a:t>
            </a:r>
            <a:endParaRPr lang="en-US" altLang="en-GB" sz="200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en-GB" sz="200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GB" sz="2000">
                <a:solidFill>
                  <a:schemeClr val="bg1"/>
                </a:solidFill>
              </a:rPr>
              <a:t>Primary outstanding challenge: Multi-speaker ASR — especially overlapped speech — remains the hardest problem; separate diarization + transcription pipelines suffer from error propagation.</a:t>
            </a:r>
            <a:endParaRPr lang="en-US" altLang="en-GB" sz="200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en-GB" sz="200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GB" sz="2000">
                <a:solidFill>
                  <a:schemeClr val="bg1"/>
                </a:solidFill>
              </a:rPr>
              <a:t>Cutting-edge solution (2025): Move to an integrated, diarization-aware framework where LLMs ingest speaker signals and audio features together, producing accurate, time-aligned transcriptions and reducing cascading errors.</a:t>
            </a:r>
            <a:endParaRPr lang="en-US" altLang="en-GB" sz="200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en-GB" sz="200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GB" sz="2000">
                <a:solidFill>
                  <a:schemeClr val="bg1"/>
                </a:solidFill>
              </a:rPr>
              <a:t>Implication: Integrated approaches promise more reliable speaker attribution, cleaner transcripts in noisy/overlapped settings, and better downstream summarization/action-item extraction.</a:t>
            </a:r>
            <a:endParaRPr lang="en-US" altLang="en-GB" sz="20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8194" name="组合 6"/>
          <p:cNvGrpSpPr/>
          <p:nvPr/>
        </p:nvGrpSpPr>
        <p:grpSpPr>
          <a:xfrm>
            <a:off x="0" y="377825"/>
            <a:ext cx="1001713" cy="522288"/>
            <a:chOff x="0" y="377371"/>
            <a:chExt cx="1988458" cy="522515"/>
          </a:xfrm>
        </p:grpSpPr>
        <p:sp>
          <p:nvSpPr>
            <p:cNvPr id="4" name="矩形 3"/>
            <p:cNvSpPr/>
            <p:nvPr/>
          </p:nvSpPr>
          <p:spPr>
            <a:xfrm>
              <a:off x="0" y="377371"/>
              <a:ext cx="1988458" cy="522514"/>
            </a:xfrm>
            <a:prstGeom prst="rect">
              <a:avLst/>
            </a:prstGeom>
            <a:solidFill>
              <a:srgbClr val="3EB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直角三角形 5"/>
            <p:cNvSpPr/>
            <p:nvPr/>
          </p:nvSpPr>
          <p:spPr>
            <a:xfrm flipH="1">
              <a:off x="0" y="377372"/>
              <a:ext cx="1988458" cy="522514"/>
            </a:xfrm>
            <a:prstGeom prst="rtTriangle">
              <a:avLst/>
            </a:prstGeom>
            <a:solidFill>
              <a:srgbClr val="30302F">
                <a:alpha val="4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pic>
        <p:nvPicPr>
          <p:cNvPr id="2" name="Picture 1" descr="Screenshot 2025-10-31 09094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1720" y="955040"/>
            <a:ext cx="10067925" cy="565023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1062990" y="364490"/>
            <a:ext cx="288607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GB" sz="3000" b="1">
                <a:solidFill>
                  <a:schemeClr val="bg1"/>
                </a:solidFill>
              </a:rPr>
              <a:t>FireFlies.ai</a:t>
            </a:r>
            <a:endParaRPr lang="en-IN" altLang="en-GB" sz="30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219" name="组合 6"/>
          <p:cNvGrpSpPr/>
          <p:nvPr/>
        </p:nvGrpSpPr>
        <p:grpSpPr>
          <a:xfrm>
            <a:off x="0" y="377825"/>
            <a:ext cx="1001713" cy="522288"/>
            <a:chOff x="0" y="377371"/>
            <a:chExt cx="1988458" cy="522515"/>
          </a:xfrm>
        </p:grpSpPr>
        <p:sp>
          <p:nvSpPr>
            <p:cNvPr id="4" name="矩形 3"/>
            <p:cNvSpPr/>
            <p:nvPr/>
          </p:nvSpPr>
          <p:spPr>
            <a:xfrm>
              <a:off x="0" y="377371"/>
              <a:ext cx="1988458" cy="522514"/>
            </a:xfrm>
            <a:prstGeom prst="rect">
              <a:avLst/>
            </a:prstGeom>
            <a:solidFill>
              <a:srgbClr val="3EB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直角三角形 5"/>
            <p:cNvSpPr/>
            <p:nvPr/>
          </p:nvSpPr>
          <p:spPr>
            <a:xfrm flipH="1">
              <a:off x="0" y="377372"/>
              <a:ext cx="1988458" cy="522514"/>
            </a:xfrm>
            <a:prstGeom prst="rtTriangle">
              <a:avLst/>
            </a:prstGeom>
            <a:solidFill>
              <a:srgbClr val="30302F">
                <a:alpha val="4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" name="Text Box 2"/>
          <p:cNvSpPr txBox="1"/>
          <p:nvPr/>
        </p:nvSpPr>
        <p:spPr>
          <a:xfrm>
            <a:off x="1125855" y="770890"/>
            <a:ext cx="10250805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en-US" altLang="en-GB" sz="2000" b="1">
                <a:solidFill>
                  <a:schemeClr val="bg1"/>
                </a:solidFill>
              </a:rPr>
              <a:t>Advantages</a:t>
            </a:r>
            <a:r>
              <a:rPr lang="en-IN" altLang="en-US" sz="2000" b="1">
                <a:solidFill>
                  <a:schemeClr val="bg1"/>
                </a:solidFill>
              </a:rPr>
              <a:t>:</a:t>
            </a:r>
            <a:endParaRPr lang="en-IN" altLang="en-US" sz="2000" b="1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GB" sz="2000">
                <a:solidFill>
                  <a:schemeClr val="bg1"/>
                </a:solidFill>
              </a:rPr>
              <a:t>Strong post-meeting automation for organizing and processing meeting content.</a:t>
            </a:r>
            <a:endParaRPr lang="en-US" altLang="en-GB" sz="2000">
              <a:solidFill>
                <a:schemeClr val="bg1"/>
              </a:solidFill>
            </a:endParaRPr>
          </a:p>
          <a:p>
            <a:pPr algn="just">
              <a:buFont typeface="Arial" panose="020B0604020202020204" pitchFamily="34" charset="0"/>
            </a:pPr>
            <a:endParaRPr lang="en-US" altLang="en-GB" sz="200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GB" sz="2000">
                <a:solidFill>
                  <a:schemeClr val="bg1"/>
                </a:solidFill>
              </a:rPr>
              <a:t>High-quality AI summaries that are concise and accurate.</a:t>
            </a:r>
            <a:endParaRPr lang="en-US" altLang="en-GB" sz="2000">
              <a:solidFill>
                <a:schemeClr val="bg1"/>
              </a:solidFill>
            </a:endParaRPr>
          </a:p>
          <a:p>
            <a:pPr algn="just">
              <a:buFont typeface="Arial" panose="020B0604020202020204" pitchFamily="34" charset="0"/>
            </a:pPr>
            <a:endParaRPr lang="en-US" altLang="en-GB" sz="200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GB" sz="2000">
                <a:solidFill>
                  <a:schemeClr val="bg1"/>
                </a:solidFill>
              </a:rPr>
              <a:t>Effective action-item detection that identifies tasks and responsibilities clearly.</a:t>
            </a:r>
            <a:endParaRPr lang="en-US" altLang="en-GB" sz="2000">
              <a:solidFill>
                <a:schemeClr val="bg1"/>
              </a:solidFill>
            </a:endParaRPr>
          </a:p>
          <a:p>
            <a:pPr algn="just">
              <a:buFont typeface="Arial" panose="020B0604020202020204" pitchFamily="34" charset="0"/>
            </a:pPr>
            <a:endParaRPr lang="en-US" altLang="en-GB" sz="200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GB" sz="2000">
                <a:solidFill>
                  <a:schemeClr val="bg1"/>
                </a:solidFill>
              </a:rPr>
              <a:t>Extensive integrations (e.g., Slack, CRM platforms, project management tools).</a:t>
            </a:r>
            <a:endParaRPr lang="en-US" altLang="en-GB" sz="2000">
              <a:solidFill>
                <a:schemeClr val="bg1"/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125855" y="3445510"/>
            <a:ext cx="10250805" cy="31692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en-US" altLang="en-GB" sz="2000" b="1">
                <a:solidFill>
                  <a:schemeClr val="bg1"/>
                </a:solidFill>
              </a:rPr>
              <a:t>Disadvantages</a:t>
            </a:r>
            <a:r>
              <a:rPr lang="en-IN" altLang="en-US" sz="2000" b="1">
                <a:solidFill>
                  <a:schemeClr val="bg1"/>
                </a:solidFill>
              </a:rPr>
              <a:t>:</a:t>
            </a:r>
            <a:endParaRPr lang="en-IN" altLang="en-US" sz="2000" b="1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GB" sz="2000">
                <a:solidFill>
                  <a:schemeClr val="bg1"/>
                </a:solidFill>
              </a:rPr>
              <a:t>Speaker identification issues: Struggles with accurate multi-speaker labeling in fast or overlapping conversations.</a:t>
            </a:r>
            <a:endParaRPr lang="en-US" altLang="en-GB" sz="2000">
              <a:solidFill>
                <a:schemeClr val="bg1"/>
              </a:solidFill>
            </a:endParaRPr>
          </a:p>
          <a:p>
            <a:pPr algn="just"/>
            <a:endParaRPr lang="en-US" altLang="en-GB" sz="200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GB" sz="2000">
                <a:solidFill>
                  <a:schemeClr val="bg1"/>
                </a:solidFill>
              </a:rPr>
              <a:t>Accent sensitivity: Transcription accuracy decreases noticeably with strong or diverse accents.</a:t>
            </a:r>
            <a:endParaRPr lang="en-US" altLang="en-GB" sz="2000">
              <a:solidFill>
                <a:schemeClr val="bg1"/>
              </a:solidFill>
            </a:endParaRPr>
          </a:p>
          <a:p>
            <a:pPr algn="just"/>
            <a:endParaRPr lang="en-US" altLang="en-GB" sz="200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GB" sz="2000">
                <a:solidFill>
                  <a:schemeClr val="bg1"/>
                </a:solidFill>
              </a:rPr>
              <a:t>Bot intrusiveness: Some users feel the meeting bot joining calls is disruptive or uncomfortable.</a:t>
            </a:r>
            <a:endParaRPr lang="en-US" altLang="en-GB" sz="2000">
              <a:solidFill>
                <a:schemeClr val="bg1"/>
              </a:solidFill>
            </a:endParaRPr>
          </a:p>
          <a:p>
            <a:pPr algn="just"/>
            <a:endParaRPr lang="en-US" altLang="en-GB" sz="200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GB" sz="2000">
                <a:solidFill>
                  <a:schemeClr val="bg1"/>
                </a:solidFill>
              </a:rPr>
              <a:t>Limited free plan: Key features are restricted, requiring higher-priced tiers to access full functionality.</a:t>
            </a:r>
            <a:endParaRPr lang="en-US" altLang="en-GB" sz="20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4340" name="组合 6"/>
          <p:cNvGrpSpPr/>
          <p:nvPr/>
        </p:nvGrpSpPr>
        <p:grpSpPr>
          <a:xfrm>
            <a:off x="0" y="377825"/>
            <a:ext cx="1001713" cy="522288"/>
            <a:chOff x="0" y="377371"/>
            <a:chExt cx="1988458" cy="522515"/>
          </a:xfrm>
        </p:grpSpPr>
        <p:sp>
          <p:nvSpPr>
            <p:cNvPr id="4" name="矩形 3"/>
            <p:cNvSpPr/>
            <p:nvPr/>
          </p:nvSpPr>
          <p:spPr>
            <a:xfrm>
              <a:off x="0" y="377371"/>
              <a:ext cx="1988458" cy="522514"/>
            </a:xfrm>
            <a:prstGeom prst="rect">
              <a:avLst/>
            </a:prstGeom>
            <a:solidFill>
              <a:srgbClr val="3EB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直角三角形 5"/>
            <p:cNvSpPr/>
            <p:nvPr/>
          </p:nvSpPr>
          <p:spPr>
            <a:xfrm flipH="1">
              <a:off x="0" y="377372"/>
              <a:ext cx="1988458" cy="522514"/>
            </a:xfrm>
            <a:prstGeom prst="rtTriangle">
              <a:avLst/>
            </a:prstGeom>
            <a:solidFill>
              <a:srgbClr val="30302F">
                <a:alpha val="4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pic>
        <p:nvPicPr>
          <p:cNvPr id="2" name="Picture 1" descr="Screenshot 2025-10-31 0910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6645" y="901065"/>
            <a:ext cx="9634855" cy="584771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062990" y="364490"/>
            <a:ext cx="288607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GB" sz="3000" b="1">
                <a:solidFill>
                  <a:schemeClr val="bg1"/>
                </a:solidFill>
              </a:rPr>
              <a:t>Otter.ai</a:t>
            </a:r>
            <a:endParaRPr lang="en-IN" altLang="en-GB" sz="30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5364" name="组合 6"/>
          <p:cNvGrpSpPr/>
          <p:nvPr/>
        </p:nvGrpSpPr>
        <p:grpSpPr>
          <a:xfrm>
            <a:off x="0" y="377825"/>
            <a:ext cx="1001713" cy="522288"/>
            <a:chOff x="0" y="377371"/>
            <a:chExt cx="1988458" cy="522515"/>
          </a:xfrm>
        </p:grpSpPr>
        <p:sp>
          <p:nvSpPr>
            <p:cNvPr id="4" name="矩形 3"/>
            <p:cNvSpPr/>
            <p:nvPr/>
          </p:nvSpPr>
          <p:spPr>
            <a:xfrm>
              <a:off x="0" y="377371"/>
              <a:ext cx="1988458" cy="522514"/>
            </a:xfrm>
            <a:prstGeom prst="rect">
              <a:avLst/>
            </a:prstGeom>
            <a:solidFill>
              <a:srgbClr val="3EB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直角三角形 5"/>
            <p:cNvSpPr/>
            <p:nvPr/>
          </p:nvSpPr>
          <p:spPr>
            <a:xfrm flipH="1">
              <a:off x="0" y="377372"/>
              <a:ext cx="1988458" cy="522514"/>
            </a:xfrm>
            <a:prstGeom prst="rtTriangle">
              <a:avLst/>
            </a:prstGeom>
            <a:solidFill>
              <a:srgbClr val="30302F">
                <a:alpha val="4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" name="Text Box 2"/>
          <p:cNvSpPr txBox="1"/>
          <p:nvPr/>
        </p:nvSpPr>
        <p:spPr>
          <a:xfrm>
            <a:off x="1125855" y="900430"/>
            <a:ext cx="10250805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en-US" altLang="en-GB" sz="2000">
                <a:solidFill>
                  <a:schemeClr val="bg1"/>
                </a:solidFill>
              </a:rPr>
              <a:t>Advantages</a:t>
            </a:r>
            <a:r>
              <a:rPr lang="en-IN" altLang="en-US" sz="2000">
                <a:solidFill>
                  <a:schemeClr val="bg1"/>
                </a:solidFill>
              </a:rPr>
              <a:t>:</a:t>
            </a:r>
            <a:endParaRPr lang="en-IN" altLang="en-US" sz="200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GB" sz="2000">
                <a:solidFill>
                  <a:schemeClr val="bg1"/>
                </a:solidFill>
              </a:rPr>
              <a:t>Real-time transcription: Provides accurate live captions and allows in-meeting review.</a:t>
            </a:r>
            <a:endParaRPr lang="en-US" altLang="en-GB" sz="2000">
              <a:solidFill>
                <a:schemeClr val="bg1"/>
              </a:solidFill>
            </a:endParaRPr>
          </a:p>
          <a:p>
            <a:pPr algn="just"/>
            <a:endParaRPr lang="en-US" altLang="en-GB" sz="200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GB" sz="2000">
                <a:solidFill>
                  <a:schemeClr val="bg1"/>
                </a:solidFill>
              </a:rPr>
              <a:t>Highly user-friendly interface: Clean, intuitive design makes it easy to adopt.</a:t>
            </a:r>
            <a:endParaRPr lang="en-US" altLang="en-GB" sz="2000">
              <a:solidFill>
                <a:schemeClr val="bg1"/>
              </a:solidFill>
            </a:endParaRPr>
          </a:p>
          <a:p>
            <a:pPr algn="just"/>
            <a:endParaRPr lang="en-US" altLang="en-GB" sz="200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GB" sz="2000">
                <a:solidFill>
                  <a:schemeClr val="bg1"/>
                </a:solidFill>
              </a:rPr>
              <a:t>AI Chat feature: Allows users to ask questions and interact with meeting content.</a:t>
            </a:r>
            <a:endParaRPr lang="en-US" altLang="en-GB" sz="2000">
              <a:solidFill>
                <a:schemeClr val="bg1"/>
              </a:solidFill>
            </a:endParaRPr>
          </a:p>
          <a:p>
            <a:pPr algn="just"/>
            <a:endParaRPr lang="en-US" altLang="en-GB" sz="200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GB" sz="2000">
                <a:solidFill>
                  <a:schemeClr val="bg1"/>
                </a:solidFill>
              </a:rPr>
              <a:t>Strong free plan: More generous compared to many competitors.</a:t>
            </a:r>
            <a:endParaRPr lang="en-US" altLang="en-GB" sz="2000">
              <a:solidFill>
                <a:schemeClr val="bg1"/>
              </a:solidFill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125855" y="3716655"/>
            <a:ext cx="10250805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en-US" altLang="en-GB" sz="2000">
                <a:solidFill>
                  <a:schemeClr val="bg1"/>
                </a:solidFill>
              </a:rPr>
              <a:t>Disadvantages</a:t>
            </a:r>
            <a:r>
              <a:rPr lang="en-IN" altLang="en-US" sz="2000">
                <a:solidFill>
                  <a:schemeClr val="bg1"/>
                </a:solidFill>
              </a:rPr>
              <a:t>:</a:t>
            </a:r>
            <a:endParaRPr lang="en-IN" altLang="en-US" sz="200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GB" sz="2000">
                <a:solidFill>
                  <a:schemeClr val="bg1"/>
                </a:solidFill>
              </a:rPr>
              <a:t>Inconsistent speaker identification: Often mislabels speakers, leading to confusing transcripts that need manual edits.</a:t>
            </a:r>
            <a:endParaRPr lang="en-US" altLang="en-GB" sz="2000">
              <a:solidFill>
                <a:schemeClr val="bg1"/>
              </a:solidFill>
            </a:endParaRPr>
          </a:p>
          <a:p>
            <a:pPr algn="just"/>
            <a:endParaRPr lang="en-US" altLang="en-GB" sz="200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GB" sz="2000">
                <a:solidFill>
                  <a:schemeClr val="bg1"/>
                </a:solidFill>
              </a:rPr>
              <a:t>Reduced accuracy in noise: Transcription quality drops noticeably in noisy or overlapping speech environments.</a:t>
            </a:r>
            <a:endParaRPr lang="en-US" altLang="en-GB" sz="2000">
              <a:solidFill>
                <a:schemeClr val="bg1"/>
              </a:solidFill>
            </a:endParaRPr>
          </a:p>
          <a:p>
            <a:pPr algn="just"/>
            <a:endParaRPr lang="en-US" altLang="en-GB" sz="200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GB" sz="2000">
                <a:solidFill>
                  <a:schemeClr val="bg1"/>
                </a:solidFill>
              </a:rPr>
              <a:t>Limited language support: Far fewer supported languages compared to competitors.</a:t>
            </a:r>
            <a:endParaRPr lang="en-US" altLang="en-GB" sz="20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文本框 4"/>
          <p:cNvSpPr txBox="1"/>
          <p:nvPr/>
        </p:nvSpPr>
        <p:spPr>
          <a:xfrm>
            <a:off x="3971925" y="1822450"/>
            <a:ext cx="1603375" cy="31543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19900" b="1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3</a:t>
            </a:r>
            <a:endParaRPr lang="zh-CN" altLang="en-US" sz="19900" b="1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8434" name="文本框 34"/>
          <p:cNvSpPr txBox="1"/>
          <p:nvPr/>
        </p:nvSpPr>
        <p:spPr>
          <a:xfrm>
            <a:off x="5890419" y="3840480"/>
            <a:ext cx="4120515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en-IN" altLang="zh-CN" sz="3200" b="1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System Architecture</a:t>
            </a:r>
            <a:endParaRPr lang="en-IN" altLang="zh-CN" sz="3200" b="1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8" name="等腰三角形 7"/>
          <p:cNvSpPr/>
          <p:nvPr/>
        </p:nvSpPr>
        <p:spPr>
          <a:xfrm rot="10800000">
            <a:off x="7002463" y="0"/>
            <a:ext cx="3008313" cy="2593975"/>
          </a:xfrm>
          <a:prstGeom prst="triangle">
            <a:avLst/>
          </a:prstGeom>
          <a:solidFill>
            <a:srgbClr val="3EB1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8" name="等腰三角形 37"/>
          <p:cNvSpPr/>
          <p:nvPr/>
        </p:nvSpPr>
        <p:spPr>
          <a:xfrm>
            <a:off x="1452563" y="4264025"/>
            <a:ext cx="3008313" cy="2593975"/>
          </a:xfrm>
          <a:prstGeom prst="triangle">
            <a:avLst/>
          </a:prstGeom>
          <a:solidFill>
            <a:srgbClr val="3EB1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437" name="文本框 38"/>
          <p:cNvSpPr txBox="1"/>
          <p:nvPr/>
        </p:nvSpPr>
        <p:spPr>
          <a:xfrm>
            <a:off x="6013450" y="3316288"/>
            <a:ext cx="2411413" cy="5238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800" dirty="0">
                <a:solidFill>
                  <a:srgbClr val="30302F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PART THREE</a:t>
            </a:r>
            <a:endParaRPr lang="zh-CN" altLang="en-US" sz="2800" dirty="0">
              <a:solidFill>
                <a:srgbClr val="30302F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4" name="直角三角形 13"/>
          <p:cNvSpPr/>
          <p:nvPr/>
        </p:nvSpPr>
        <p:spPr>
          <a:xfrm rot="10800000" flipH="1">
            <a:off x="8499475" y="-9525"/>
            <a:ext cx="1511300" cy="2603500"/>
          </a:xfrm>
          <a:prstGeom prst="rtTriangle">
            <a:avLst/>
          </a:prstGeom>
          <a:solidFill>
            <a:srgbClr val="30302F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0" name="直角三角形 39"/>
          <p:cNvSpPr/>
          <p:nvPr/>
        </p:nvSpPr>
        <p:spPr>
          <a:xfrm flipH="1">
            <a:off x="1446213" y="4241800"/>
            <a:ext cx="1512888" cy="2601913"/>
          </a:xfrm>
          <a:prstGeom prst="rtTriangle">
            <a:avLst/>
          </a:prstGeom>
          <a:solidFill>
            <a:srgbClr val="30302F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9457" name="组合 6"/>
          <p:cNvGrpSpPr/>
          <p:nvPr/>
        </p:nvGrpSpPr>
        <p:grpSpPr>
          <a:xfrm>
            <a:off x="0" y="377825"/>
            <a:ext cx="1001713" cy="522288"/>
            <a:chOff x="0" y="377371"/>
            <a:chExt cx="1988458" cy="522515"/>
          </a:xfrm>
        </p:grpSpPr>
        <p:sp>
          <p:nvSpPr>
            <p:cNvPr id="4" name="矩形 3"/>
            <p:cNvSpPr/>
            <p:nvPr/>
          </p:nvSpPr>
          <p:spPr>
            <a:xfrm>
              <a:off x="0" y="377371"/>
              <a:ext cx="1988458" cy="522514"/>
            </a:xfrm>
            <a:prstGeom prst="rect">
              <a:avLst/>
            </a:prstGeom>
            <a:solidFill>
              <a:srgbClr val="3EB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直角三角形 5"/>
            <p:cNvSpPr/>
            <p:nvPr/>
          </p:nvSpPr>
          <p:spPr>
            <a:xfrm flipH="1">
              <a:off x="0" y="377372"/>
              <a:ext cx="1988458" cy="522514"/>
            </a:xfrm>
            <a:prstGeom prst="rtTriangle">
              <a:avLst/>
            </a:prstGeom>
            <a:solidFill>
              <a:srgbClr val="30302F">
                <a:alpha val="4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pic>
        <p:nvPicPr>
          <p:cNvPr id="2" name="Picture 1" descr="system_architecture_mode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3615" y="177165"/>
            <a:ext cx="7631430" cy="658304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1508" name="组合 6"/>
          <p:cNvGrpSpPr/>
          <p:nvPr/>
        </p:nvGrpSpPr>
        <p:grpSpPr>
          <a:xfrm>
            <a:off x="0" y="377825"/>
            <a:ext cx="1001713" cy="522288"/>
            <a:chOff x="0" y="377371"/>
            <a:chExt cx="1988458" cy="522515"/>
          </a:xfrm>
        </p:grpSpPr>
        <p:sp>
          <p:nvSpPr>
            <p:cNvPr id="4" name="矩形 3"/>
            <p:cNvSpPr/>
            <p:nvPr/>
          </p:nvSpPr>
          <p:spPr>
            <a:xfrm>
              <a:off x="0" y="377371"/>
              <a:ext cx="1988458" cy="522514"/>
            </a:xfrm>
            <a:prstGeom prst="rect">
              <a:avLst/>
            </a:prstGeom>
            <a:solidFill>
              <a:srgbClr val="3EB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直角三角形 5"/>
            <p:cNvSpPr/>
            <p:nvPr/>
          </p:nvSpPr>
          <p:spPr>
            <a:xfrm flipH="1">
              <a:off x="0" y="377372"/>
              <a:ext cx="1988458" cy="522514"/>
            </a:xfrm>
            <a:prstGeom prst="rtTriangle">
              <a:avLst/>
            </a:prstGeom>
            <a:solidFill>
              <a:srgbClr val="30302F">
                <a:alpha val="4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" name="Text Box 1"/>
          <p:cNvSpPr txBox="1"/>
          <p:nvPr/>
        </p:nvSpPr>
        <p:spPr>
          <a:xfrm>
            <a:off x="1107440" y="1005840"/>
            <a:ext cx="10598785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000" b="1">
                <a:solidFill>
                  <a:schemeClr val="bg1"/>
                </a:solidFill>
              </a:rPr>
              <a:t>Architectural Adaptations</a:t>
            </a:r>
            <a:endParaRPr lang="en-US" altLang="en-GB" sz="2000" b="1">
              <a:solidFill>
                <a:schemeClr val="bg1"/>
              </a:solidFill>
            </a:endParaRPr>
          </a:p>
          <a:p>
            <a:endParaRPr lang="en-US" altLang="en-GB" sz="200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000">
                <a:solidFill>
                  <a:schemeClr val="bg1"/>
                </a:solidFill>
              </a:rPr>
              <a:t>Parallel AI Processing:</a:t>
            </a:r>
            <a:endParaRPr lang="en-US" altLang="en-GB" sz="200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GB" sz="2000">
                <a:solidFill>
                  <a:schemeClr val="bg1"/>
                </a:solidFill>
              </a:rPr>
              <a:t>The system now processes transcription (STT Model) and speaker diarization (Speaker Diarization Model) at the same time, rather than one after the other.</a:t>
            </a:r>
            <a:endParaRPr lang="en-US" altLang="en-GB" sz="200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GB" sz="2000">
                <a:solidFill>
                  <a:schemeClr val="bg1"/>
                </a:solidFill>
              </a:rPr>
              <a:t>The Backend API orchestrates this by sending the preprocessed audio to both models simultaneously.</a:t>
            </a:r>
            <a:endParaRPr lang="en-US" altLang="en-GB" sz="200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GB" sz="2000">
                <a:solidFill>
                  <a:schemeClr val="bg1"/>
                </a:solidFill>
              </a:rPr>
              <a:t>This parallelization significantly reduces the total processing time, delivering the final minutes to the user much faster.</a:t>
            </a:r>
            <a:endParaRPr lang="en-US" altLang="en-GB" sz="2000">
              <a:solidFill>
                <a:schemeClr val="bg1"/>
              </a:solidFill>
            </a:endParaRPr>
          </a:p>
          <a:p>
            <a:endParaRPr lang="en-US" altLang="en-GB" sz="200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000">
                <a:solidFill>
                  <a:schemeClr val="bg1"/>
                </a:solidFill>
              </a:rPr>
              <a:t>User-Provided Context for Enhanced Accuracy:</a:t>
            </a:r>
            <a:endParaRPr lang="en-US" altLang="en-GB" sz="200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GB" sz="2000">
                <a:solidFill>
                  <a:schemeClr val="bg1"/>
                </a:solidFill>
              </a:rPr>
              <a:t>A new feature has been added to the Frontend Web App allowing users to input a manual "gist" or key context (like topics, attendee names, or jargon) when uploading a meeting.</a:t>
            </a:r>
            <a:endParaRPr lang="en-US" altLang="en-GB" sz="200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GB" sz="2000">
                <a:solidFill>
                  <a:schemeClr val="bg1"/>
                </a:solidFill>
              </a:rPr>
              <a:t>This context is passed from the frontend to the Backend API.</a:t>
            </a:r>
            <a:endParaRPr lang="en-US" altLang="en-GB" sz="200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GB" sz="2000">
                <a:solidFill>
                  <a:schemeClr val="bg1"/>
                </a:solidFill>
              </a:rPr>
              <a:t>The backend then uses this information to "prime" the AI models</a:t>
            </a:r>
            <a:endParaRPr lang="en-US" altLang="en-GB" sz="200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GB" sz="2000">
                <a:solidFill>
                  <a:schemeClr val="bg1"/>
                </a:solidFill>
              </a:rPr>
              <a:t>It is sent to the STT Model to improve the accuracy of transcribing specific or uncommon terms. </a:t>
            </a:r>
            <a:r>
              <a:rPr lang="en-US" altLang="en-US" sz="2000">
                <a:solidFill>
                  <a:schemeClr val="bg1"/>
                </a:solidFill>
              </a:rPr>
              <a:t> </a:t>
            </a:r>
            <a:r>
              <a:rPr lang="en-US" altLang="en-GB" sz="2000">
                <a:solidFill>
                  <a:schemeClr val="bg1"/>
                </a:solidFill>
              </a:rPr>
              <a:t> </a:t>
            </a:r>
            <a:endParaRPr lang="en-US" altLang="en-GB" sz="2000">
              <a:solidFill>
                <a:schemeClr val="bg1"/>
              </a:solidFill>
            </a:endParaRPr>
          </a:p>
          <a:p>
            <a:pPr lvl="1">
              <a:buFont typeface="Arial" panose="020B0604020202020204" pitchFamily="34" charset="0"/>
            </a:pPr>
            <a:endParaRPr lang="en-US" altLang="en-GB" sz="20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1508" name="组合 6"/>
          <p:cNvGrpSpPr/>
          <p:nvPr/>
        </p:nvGrpSpPr>
        <p:grpSpPr>
          <a:xfrm>
            <a:off x="0" y="377825"/>
            <a:ext cx="1001713" cy="522288"/>
            <a:chOff x="0" y="377371"/>
            <a:chExt cx="1988458" cy="522515"/>
          </a:xfrm>
        </p:grpSpPr>
        <p:sp>
          <p:nvSpPr>
            <p:cNvPr id="4" name="矩形 3"/>
            <p:cNvSpPr/>
            <p:nvPr/>
          </p:nvSpPr>
          <p:spPr>
            <a:xfrm>
              <a:off x="0" y="377371"/>
              <a:ext cx="1988458" cy="522514"/>
            </a:xfrm>
            <a:prstGeom prst="rect">
              <a:avLst/>
            </a:prstGeom>
            <a:solidFill>
              <a:srgbClr val="3EB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直角三角形 5"/>
            <p:cNvSpPr/>
            <p:nvPr/>
          </p:nvSpPr>
          <p:spPr>
            <a:xfrm flipH="1">
              <a:off x="0" y="377372"/>
              <a:ext cx="1988458" cy="522514"/>
            </a:xfrm>
            <a:prstGeom prst="rtTriangle">
              <a:avLst/>
            </a:prstGeom>
            <a:solidFill>
              <a:srgbClr val="30302F">
                <a:alpha val="4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" name="Text Box 1"/>
          <p:cNvSpPr txBox="1"/>
          <p:nvPr/>
        </p:nvSpPr>
        <p:spPr>
          <a:xfrm>
            <a:off x="1107440" y="1386205"/>
            <a:ext cx="1059878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000" b="1">
                <a:solidFill>
                  <a:schemeClr val="bg1"/>
                </a:solidFill>
              </a:rPr>
              <a:t>Functional Requirements</a:t>
            </a:r>
            <a:endParaRPr lang="en-US" altLang="en-GB" sz="2000" b="1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000">
                <a:solidFill>
                  <a:schemeClr val="bg1"/>
                </a:solidFill>
              </a:rPr>
              <a:t>User must be able to upload audio/video files.</a:t>
            </a:r>
            <a:endParaRPr lang="en-US" altLang="en-GB" sz="200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000">
                <a:solidFill>
                  <a:schemeClr val="bg1"/>
                </a:solidFill>
              </a:rPr>
              <a:t>User must be able to submit optional text context (a "gist") with the upload.</a:t>
            </a:r>
            <a:endParaRPr lang="en-US" altLang="en-GB" sz="200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000">
                <a:solidFill>
                  <a:schemeClr val="bg1"/>
                </a:solidFill>
              </a:rPr>
              <a:t>The STT model must use the user's "gist" to improve accuracy on specific terms.</a:t>
            </a:r>
            <a:endParaRPr lang="en-US" altLang="en-GB" sz="200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000">
                <a:solidFill>
                  <a:schemeClr val="bg1"/>
                </a:solidFill>
              </a:rPr>
              <a:t>The LLM must use the "gist" to generate a more relevant summary and extract action items.</a:t>
            </a:r>
            <a:endParaRPr lang="en-US" altLang="en-GB" sz="200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000">
                <a:solidFill>
                  <a:schemeClr val="bg1"/>
                </a:solidFill>
              </a:rPr>
              <a:t>The user must be able to view the final summary and transcript.</a:t>
            </a:r>
            <a:endParaRPr lang="en-US" altLang="en-GB" sz="2000">
              <a:solidFill>
                <a:schemeClr val="bg1"/>
              </a:solidFill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107440" y="3627120"/>
            <a:ext cx="1059878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000" b="1">
                <a:solidFill>
                  <a:schemeClr val="bg1"/>
                </a:solidFill>
              </a:rPr>
              <a:t>Non-Functional Requirements</a:t>
            </a:r>
            <a:endParaRPr lang="en-US" altLang="en-GB" sz="2000" b="1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000">
                <a:solidFill>
                  <a:schemeClr val="bg1"/>
                </a:solidFill>
              </a:rPr>
              <a:t>Performance: The system must have low processing latency, achieved through parallel AI tasks.</a:t>
            </a:r>
            <a:endParaRPr lang="en-US" altLang="en-GB" sz="200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000">
                <a:solidFill>
                  <a:schemeClr val="bg1"/>
                </a:solidFill>
              </a:rPr>
              <a:t>Accuracy: Transcription and speaker identification must be highly accurate, enhanced by user-provided context.</a:t>
            </a:r>
            <a:endParaRPr lang="en-US" altLang="en-GB" sz="200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000">
                <a:solidFill>
                  <a:schemeClr val="bg1"/>
                </a:solidFill>
              </a:rPr>
              <a:t>Relevance: Generated summaries must be context-aware and relevant to the user's "gist".</a:t>
            </a:r>
            <a:endParaRPr lang="en-US" altLang="en-GB" sz="200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000">
                <a:solidFill>
                  <a:schemeClr val="bg1"/>
                </a:solidFill>
              </a:rPr>
              <a:t>Scalability: The architecture must scale to handle multiple, concurrent user uploads.</a:t>
            </a:r>
            <a:endParaRPr lang="en-US" altLang="en-GB" sz="200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000">
                <a:solidFill>
                  <a:schemeClr val="bg1"/>
                </a:solidFill>
              </a:rPr>
              <a:t>Modularity: The Core AI Engine components (STT, Diarization, LLM) must be decoupled for independent updates.</a:t>
            </a:r>
            <a:endParaRPr lang="en-US" altLang="en-GB" sz="200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</a:pPr>
            <a:endParaRPr lang="en-US" altLang="en-GB" sz="2000">
              <a:solidFill>
                <a:schemeClr val="bg1"/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054100" y="391160"/>
            <a:ext cx="416814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3000" b="1">
                <a:solidFill>
                  <a:schemeClr val="bg1"/>
                </a:solidFill>
              </a:rPr>
              <a:t>System Requiremnets</a:t>
            </a:r>
            <a:endParaRPr lang="en-US" altLang="en-US" sz="30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1508" name="组合 6"/>
          <p:cNvGrpSpPr/>
          <p:nvPr/>
        </p:nvGrpSpPr>
        <p:grpSpPr>
          <a:xfrm>
            <a:off x="0" y="377825"/>
            <a:ext cx="1001713" cy="522288"/>
            <a:chOff x="0" y="377371"/>
            <a:chExt cx="1988458" cy="522515"/>
          </a:xfrm>
        </p:grpSpPr>
        <p:sp>
          <p:nvSpPr>
            <p:cNvPr id="4" name="矩形 3"/>
            <p:cNvSpPr/>
            <p:nvPr/>
          </p:nvSpPr>
          <p:spPr>
            <a:xfrm>
              <a:off x="0" y="377371"/>
              <a:ext cx="1988458" cy="522514"/>
            </a:xfrm>
            <a:prstGeom prst="rect">
              <a:avLst/>
            </a:prstGeom>
            <a:solidFill>
              <a:srgbClr val="3EB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直角三角形 5"/>
            <p:cNvSpPr/>
            <p:nvPr/>
          </p:nvSpPr>
          <p:spPr>
            <a:xfrm flipH="1">
              <a:off x="0" y="377372"/>
              <a:ext cx="1988458" cy="522514"/>
            </a:xfrm>
            <a:prstGeom prst="rtTriangle">
              <a:avLst/>
            </a:prstGeom>
            <a:solidFill>
              <a:srgbClr val="30302F">
                <a:alpha val="4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" name="Text Box 1"/>
          <p:cNvSpPr txBox="1"/>
          <p:nvPr/>
        </p:nvSpPr>
        <p:spPr>
          <a:xfrm>
            <a:off x="1107440" y="1005840"/>
            <a:ext cx="10598785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solidFill>
                  <a:schemeClr val="bg1"/>
                </a:solidFill>
              </a:rPr>
              <a:t>1. Frontend Web App (The User Interface)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Component: Frontend Web App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Technology: React.js / Vue.js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Function: 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solidFill>
                  <a:schemeClr val="bg1"/>
                </a:solidFill>
              </a:rPr>
              <a:t>This is the primary module the user interacts with. Its job is to: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solidFill>
                  <a:schemeClr val="bg1"/>
                </a:solidFill>
              </a:rPr>
              <a:t>Provide a clean interface for file uploads.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solidFill>
                  <a:schemeClr val="bg1"/>
                </a:solidFill>
              </a:rPr>
              <a:t>Capture the user-provided "context gist" (jargon, names, topics) to improve accuracy.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solidFill>
                  <a:schemeClr val="bg1"/>
                </a:solidFill>
              </a:rPr>
              <a:t>Display the final, processed Minutes of Meeting, including the summary, transcript, and action items.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2. Backend API (The Orchestration Layer)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Component: Backend API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Technology: Serverless Functions (Python/Node.js)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Function: 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solidFill>
                  <a:schemeClr val="bg1"/>
                </a:solidFill>
              </a:rPr>
              <a:t>This is the "brain" of the operation that manages the entire workflow. Its key responsibilities are: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solidFill>
                  <a:schemeClr val="bg1"/>
                </a:solidFill>
              </a:rPr>
              <a:t>Receiving requests from the Frontend.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solidFill>
                  <a:schemeClr val="bg1"/>
                </a:solidFill>
              </a:rPr>
              <a:t>Handling audio preprocessing to prepare the file for analysis.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solidFill>
                  <a:schemeClr val="bg1"/>
                </a:solidFill>
              </a:rPr>
              <a:t>Orchestrating the Core AI Engine by sending tasks to the different models.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solidFill>
                  <a:schemeClr val="bg1"/>
                </a:solidFill>
              </a:rPr>
              <a:t>Executing the parallel processing of transcription and diarization.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solidFill>
                  <a:schemeClr val="bg1"/>
                </a:solidFill>
              </a:rPr>
              <a:t>Performing the final "merge step" to combine the text transcript with the speaker timeline.</a:t>
            </a:r>
            <a:endParaRPr lang="en-US" altLang="en-GB">
              <a:solidFill>
                <a:schemeClr val="bg1"/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054100" y="391160"/>
            <a:ext cx="416814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3000" b="1">
                <a:solidFill>
                  <a:schemeClr val="bg1"/>
                </a:solidFill>
              </a:rPr>
              <a:t>Modules</a:t>
            </a:r>
            <a:endParaRPr lang="en-IN" altLang="en-US" sz="30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1508" name="组合 6"/>
          <p:cNvGrpSpPr/>
          <p:nvPr/>
        </p:nvGrpSpPr>
        <p:grpSpPr>
          <a:xfrm>
            <a:off x="0" y="377825"/>
            <a:ext cx="1001713" cy="522288"/>
            <a:chOff x="0" y="377371"/>
            <a:chExt cx="1988458" cy="522515"/>
          </a:xfrm>
        </p:grpSpPr>
        <p:sp>
          <p:nvSpPr>
            <p:cNvPr id="4" name="矩形 3"/>
            <p:cNvSpPr/>
            <p:nvPr/>
          </p:nvSpPr>
          <p:spPr>
            <a:xfrm>
              <a:off x="0" y="377371"/>
              <a:ext cx="1988458" cy="522514"/>
            </a:xfrm>
            <a:prstGeom prst="rect">
              <a:avLst/>
            </a:prstGeom>
            <a:solidFill>
              <a:srgbClr val="3EB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直角三角形 5"/>
            <p:cNvSpPr/>
            <p:nvPr/>
          </p:nvSpPr>
          <p:spPr>
            <a:xfrm flipH="1">
              <a:off x="0" y="377372"/>
              <a:ext cx="1988458" cy="522514"/>
            </a:xfrm>
            <a:prstGeom prst="rtTriangle">
              <a:avLst/>
            </a:prstGeom>
            <a:solidFill>
              <a:srgbClr val="30302F">
                <a:alpha val="4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" name="Text Box 1"/>
          <p:cNvSpPr txBox="1"/>
          <p:nvPr/>
        </p:nvSpPr>
        <p:spPr>
          <a:xfrm>
            <a:off x="1107440" y="1005840"/>
            <a:ext cx="10598785" cy="53543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solidFill>
                  <a:schemeClr val="bg1"/>
                </a:solidFill>
              </a:rPr>
              <a:t>3. Core AI Engine (The Analysis Module)</a:t>
            </a:r>
            <a:r>
              <a:rPr lang="en-IN" altLang="en-US">
                <a:solidFill>
                  <a:schemeClr val="bg1"/>
                </a:solidFill>
              </a:rPr>
              <a:t>: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Component: Core AI Engine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Technology: Containerized AI Models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Function: This module contains the three specialized AI models that perform the heavy lifting: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solidFill>
                  <a:schemeClr val="bg1"/>
                </a:solidFill>
              </a:rPr>
              <a:t>STT Model (e.g., OpenAI Whisper): The transcription service. It listens to the audio and converts the spoken words into written text.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solidFill>
                  <a:schemeClr val="bg1"/>
                </a:solidFill>
              </a:rPr>
              <a:t>Speaker Diarization Model (e.g., Pyannote.audio): The speaker identification service. It answers the question "Who spoke, and when?" by segmenting the audio by speaker</a:t>
            </a:r>
            <a:r>
              <a:rPr lang="en-IN" altLang="en-US">
                <a:solidFill>
                  <a:schemeClr val="bg1"/>
                </a:solidFill>
              </a:rPr>
              <a:t>.</a:t>
            </a:r>
            <a:endParaRPr lang="en-IN" altLang="en-US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solidFill>
                  <a:schemeClr val="bg1"/>
                </a:solidFill>
              </a:rPr>
              <a:t>LLM Model (e.g., GPT-4o): The "Natural Language Understanding" service. It reads the final, merged transcript and generates the high-level summary and extracts key action items.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4. Data Storage Layer (The Memory)</a:t>
            </a:r>
            <a:r>
              <a:rPr lang="en-IN" altLang="en-US">
                <a:solidFill>
                  <a:schemeClr val="bg1"/>
                </a:solidFill>
              </a:rPr>
              <a:t>: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Component: Database &amp; Object Storage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Technology: PostgreSQL &amp; S3/Google Cloud Storage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Function: This layer is responsible for all data persistence. It's split into two parts for efficiency: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solidFill>
                  <a:schemeClr val="bg1"/>
                </a:solidFill>
              </a:rPr>
              <a:t>Object Storage: This is a cost-effective "filing cabinet" that stores the large, raw audio/video files.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solidFill>
                  <a:schemeClr val="bg1"/>
                </a:solidFill>
              </a:rPr>
              <a:t>Database: This is a structured database that stores all the processed, valuable data, such as user information, the final transcripts, and the generated MoM summaries.</a:t>
            </a:r>
            <a:endParaRPr lang="en-US" altLang="en-GB">
              <a:solidFill>
                <a:schemeClr val="bg1"/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054100" y="391160"/>
            <a:ext cx="416814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3000" b="1">
                <a:solidFill>
                  <a:schemeClr val="bg1"/>
                </a:solidFill>
              </a:rPr>
              <a:t>Modules</a:t>
            </a:r>
            <a:endParaRPr lang="en-IN" altLang="en-US" sz="30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文本框 4"/>
          <p:cNvSpPr txBox="1"/>
          <p:nvPr/>
        </p:nvSpPr>
        <p:spPr>
          <a:xfrm>
            <a:off x="3971925" y="1822450"/>
            <a:ext cx="1603375" cy="31543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19900" b="1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4</a:t>
            </a:r>
            <a:endParaRPr lang="zh-CN" altLang="en-US" sz="19900" b="1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4578" name="文本框 34"/>
          <p:cNvSpPr txBox="1"/>
          <p:nvPr/>
        </p:nvSpPr>
        <p:spPr>
          <a:xfrm>
            <a:off x="5991702" y="3840163"/>
            <a:ext cx="2877185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en-IN" altLang="zh-CN" sz="32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UML Diagrams</a:t>
            </a:r>
            <a:endParaRPr lang="en-IN" altLang="zh-CN" sz="3200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8" name="等腰三角形 7"/>
          <p:cNvSpPr/>
          <p:nvPr/>
        </p:nvSpPr>
        <p:spPr>
          <a:xfrm rot="10800000">
            <a:off x="7002463" y="0"/>
            <a:ext cx="3008313" cy="2593975"/>
          </a:xfrm>
          <a:prstGeom prst="triangle">
            <a:avLst/>
          </a:prstGeom>
          <a:solidFill>
            <a:srgbClr val="3EB1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8" name="等腰三角形 37"/>
          <p:cNvSpPr/>
          <p:nvPr/>
        </p:nvSpPr>
        <p:spPr>
          <a:xfrm>
            <a:off x="1452563" y="4264025"/>
            <a:ext cx="3008313" cy="2593975"/>
          </a:xfrm>
          <a:prstGeom prst="triangle">
            <a:avLst/>
          </a:prstGeom>
          <a:solidFill>
            <a:srgbClr val="3EB1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4581" name="文本框 38"/>
          <p:cNvSpPr txBox="1"/>
          <p:nvPr/>
        </p:nvSpPr>
        <p:spPr>
          <a:xfrm>
            <a:off x="6013450" y="3316288"/>
            <a:ext cx="2219325" cy="5238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800" dirty="0">
                <a:solidFill>
                  <a:srgbClr val="30302F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PART FOUR</a:t>
            </a:r>
            <a:endParaRPr lang="zh-CN" altLang="en-US" sz="2800" dirty="0">
              <a:solidFill>
                <a:srgbClr val="30302F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4" name="直角三角形 13"/>
          <p:cNvSpPr/>
          <p:nvPr/>
        </p:nvSpPr>
        <p:spPr>
          <a:xfrm rot="10800000" flipH="1">
            <a:off x="8499475" y="-9525"/>
            <a:ext cx="1511300" cy="2603500"/>
          </a:xfrm>
          <a:prstGeom prst="rtTriangle">
            <a:avLst/>
          </a:prstGeom>
          <a:solidFill>
            <a:srgbClr val="30302F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0" name="直角三角形 39"/>
          <p:cNvSpPr/>
          <p:nvPr/>
        </p:nvSpPr>
        <p:spPr>
          <a:xfrm flipH="1">
            <a:off x="1446213" y="4241800"/>
            <a:ext cx="1512888" cy="2601913"/>
          </a:xfrm>
          <a:prstGeom prst="rtTriangle">
            <a:avLst/>
          </a:prstGeom>
          <a:solidFill>
            <a:srgbClr val="30302F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6625" name="组合 6"/>
          <p:cNvGrpSpPr/>
          <p:nvPr/>
        </p:nvGrpSpPr>
        <p:grpSpPr>
          <a:xfrm>
            <a:off x="0" y="377825"/>
            <a:ext cx="1001713" cy="522288"/>
            <a:chOff x="0" y="377371"/>
            <a:chExt cx="1988458" cy="522515"/>
          </a:xfrm>
        </p:grpSpPr>
        <p:sp>
          <p:nvSpPr>
            <p:cNvPr id="4" name="矩形 3"/>
            <p:cNvSpPr/>
            <p:nvPr/>
          </p:nvSpPr>
          <p:spPr>
            <a:xfrm>
              <a:off x="0" y="377371"/>
              <a:ext cx="1988458" cy="522514"/>
            </a:xfrm>
            <a:prstGeom prst="rect">
              <a:avLst/>
            </a:prstGeom>
            <a:solidFill>
              <a:srgbClr val="3EB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直角三角形 5"/>
            <p:cNvSpPr/>
            <p:nvPr/>
          </p:nvSpPr>
          <p:spPr>
            <a:xfrm flipH="1">
              <a:off x="0" y="377372"/>
              <a:ext cx="1988458" cy="522514"/>
            </a:xfrm>
            <a:prstGeom prst="rtTriangle">
              <a:avLst/>
            </a:prstGeom>
            <a:solidFill>
              <a:srgbClr val="30302F">
                <a:alpha val="4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6628" name="文本框 8"/>
          <p:cNvSpPr txBox="1"/>
          <p:nvPr/>
        </p:nvSpPr>
        <p:spPr>
          <a:xfrm>
            <a:off x="1176338" y="454025"/>
            <a:ext cx="19989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IN" altLang="zh-CN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Usecase Diagram</a:t>
            </a:r>
            <a:endParaRPr lang="en-IN" altLang="zh-CN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2" name="Picture 1" descr="Class_UM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80790" y="1509395"/>
            <a:ext cx="4976495" cy="449770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6625" name="组合 6"/>
          <p:cNvGrpSpPr/>
          <p:nvPr/>
        </p:nvGrpSpPr>
        <p:grpSpPr>
          <a:xfrm>
            <a:off x="0" y="377825"/>
            <a:ext cx="1001713" cy="522288"/>
            <a:chOff x="0" y="377371"/>
            <a:chExt cx="1988458" cy="522515"/>
          </a:xfrm>
        </p:grpSpPr>
        <p:sp>
          <p:nvSpPr>
            <p:cNvPr id="4" name="矩形 3"/>
            <p:cNvSpPr/>
            <p:nvPr/>
          </p:nvSpPr>
          <p:spPr>
            <a:xfrm>
              <a:off x="0" y="377371"/>
              <a:ext cx="1988458" cy="522514"/>
            </a:xfrm>
            <a:prstGeom prst="rect">
              <a:avLst/>
            </a:prstGeom>
            <a:solidFill>
              <a:srgbClr val="3EB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直角三角形 5"/>
            <p:cNvSpPr/>
            <p:nvPr/>
          </p:nvSpPr>
          <p:spPr>
            <a:xfrm flipH="1">
              <a:off x="0" y="377372"/>
              <a:ext cx="1988458" cy="522514"/>
            </a:xfrm>
            <a:prstGeom prst="rtTriangle">
              <a:avLst/>
            </a:prstGeom>
            <a:solidFill>
              <a:srgbClr val="30302F">
                <a:alpha val="4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6628" name="文本框 8"/>
          <p:cNvSpPr txBox="1"/>
          <p:nvPr/>
        </p:nvSpPr>
        <p:spPr>
          <a:xfrm>
            <a:off x="1176338" y="454025"/>
            <a:ext cx="16814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en-IN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Class</a:t>
            </a:r>
            <a:r>
              <a:rPr lang="en-IN" altLang="zh-CN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 Diagram</a:t>
            </a:r>
            <a:endParaRPr lang="en-IN" altLang="zh-CN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3" name="Picture 2" descr="usecase_UM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150" y="1296670"/>
            <a:ext cx="10553700" cy="517207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7649" name="组合 6"/>
          <p:cNvGrpSpPr/>
          <p:nvPr/>
        </p:nvGrpSpPr>
        <p:grpSpPr>
          <a:xfrm>
            <a:off x="0" y="377825"/>
            <a:ext cx="1001713" cy="522288"/>
            <a:chOff x="0" y="377371"/>
            <a:chExt cx="1988458" cy="522515"/>
          </a:xfrm>
        </p:grpSpPr>
        <p:sp>
          <p:nvSpPr>
            <p:cNvPr id="4" name="矩形 3"/>
            <p:cNvSpPr/>
            <p:nvPr/>
          </p:nvSpPr>
          <p:spPr>
            <a:xfrm>
              <a:off x="0" y="377371"/>
              <a:ext cx="1988458" cy="522514"/>
            </a:xfrm>
            <a:prstGeom prst="rect">
              <a:avLst/>
            </a:prstGeom>
            <a:solidFill>
              <a:srgbClr val="3EB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直角三角形 5"/>
            <p:cNvSpPr/>
            <p:nvPr/>
          </p:nvSpPr>
          <p:spPr>
            <a:xfrm flipH="1">
              <a:off x="0" y="377372"/>
              <a:ext cx="1988458" cy="522514"/>
            </a:xfrm>
            <a:prstGeom prst="rtTriangle">
              <a:avLst/>
            </a:prstGeom>
            <a:solidFill>
              <a:srgbClr val="30302F">
                <a:alpha val="4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7652" name="文本框 8"/>
          <p:cNvSpPr txBox="1"/>
          <p:nvPr/>
        </p:nvSpPr>
        <p:spPr>
          <a:xfrm>
            <a:off x="1176338" y="454025"/>
            <a:ext cx="21386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IN" altLang="zh-CN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Sequence Diagram</a:t>
            </a:r>
            <a:endParaRPr lang="en-IN" altLang="zh-CN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2" name="Picture 1" descr="sequence_UM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445" y="900430"/>
            <a:ext cx="9577070" cy="581533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7649" name="组合 6"/>
          <p:cNvGrpSpPr/>
          <p:nvPr/>
        </p:nvGrpSpPr>
        <p:grpSpPr>
          <a:xfrm>
            <a:off x="0" y="377825"/>
            <a:ext cx="1001713" cy="522288"/>
            <a:chOff x="0" y="377371"/>
            <a:chExt cx="1988458" cy="522515"/>
          </a:xfrm>
        </p:grpSpPr>
        <p:sp>
          <p:nvSpPr>
            <p:cNvPr id="4" name="矩形 3"/>
            <p:cNvSpPr/>
            <p:nvPr/>
          </p:nvSpPr>
          <p:spPr>
            <a:xfrm>
              <a:off x="0" y="377371"/>
              <a:ext cx="1988458" cy="522514"/>
            </a:xfrm>
            <a:prstGeom prst="rect">
              <a:avLst/>
            </a:prstGeom>
            <a:solidFill>
              <a:srgbClr val="3EB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直角三角形 5"/>
            <p:cNvSpPr/>
            <p:nvPr/>
          </p:nvSpPr>
          <p:spPr>
            <a:xfrm flipH="1">
              <a:off x="0" y="377372"/>
              <a:ext cx="1988458" cy="522514"/>
            </a:xfrm>
            <a:prstGeom prst="rtTriangle">
              <a:avLst/>
            </a:prstGeom>
            <a:solidFill>
              <a:srgbClr val="30302F">
                <a:alpha val="4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7652" name="文本框 8"/>
          <p:cNvSpPr txBox="1"/>
          <p:nvPr/>
        </p:nvSpPr>
        <p:spPr>
          <a:xfrm>
            <a:off x="1176338" y="454025"/>
            <a:ext cx="22656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en-IN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State Chart</a:t>
            </a:r>
            <a:r>
              <a:rPr lang="en-IN" altLang="zh-CN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 Diagram</a:t>
            </a:r>
            <a:endParaRPr lang="en-IN" altLang="zh-CN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3" name="Picture 2" descr="State_chart_um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2160" y="378460"/>
            <a:ext cx="4836160" cy="631634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8673" name="组合 6"/>
          <p:cNvGrpSpPr/>
          <p:nvPr/>
        </p:nvGrpSpPr>
        <p:grpSpPr>
          <a:xfrm>
            <a:off x="0" y="377825"/>
            <a:ext cx="1001713" cy="522288"/>
            <a:chOff x="0" y="377371"/>
            <a:chExt cx="1988458" cy="522515"/>
          </a:xfrm>
        </p:grpSpPr>
        <p:sp>
          <p:nvSpPr>
            <p:cNvPr id="4" name="矩形 3"/>
            <p:cNvSpPr/>
            <p:nvPr/>
          </p:nvSpPr>
          <p:spPr>
            <a:xfrm>
              <a:off x="0" y="377371"/>
              <a:ext cx="1988458" cy="522514"/>
            </a:xfrm>
            <a:prstGeom prst="rect">
              <a:avLst/>
            </a:prstGeom>
            <a:solidFill>
              <a:srgbClr val="3EB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直角三角形 5"/>
            <p:cNvSpPr/>
            <p:nvPr/>
          </p:nvSpPr>
          <p:spPr>
            <a:xfrm flipH="1">
              <a:off x="0" y="377372"/>
              <a:ext cx="1988458" cy="522514"/>
            </a:xfrm>
            <a:prstGeom prst="rtTriangle">
              <a:avLst/>
            </a:prstGeom>
            <a:solidFill>
              <a:srgbClr val="30302F">
                <a:alpha val="4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8676" name="文本框 8"/>
          <p:cNvSpPr txBox="1"/>
          <p:nvPr/>
        </p:nvSpPr>
        <p:spPr>
          <a:xfrm>
            <a:off x="1176338" y="454025"/>
            <a:ext cx="18338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IN" altLang="zh-CN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Activity Diagram</a:t>
            </a:r>
            <a:endParaRPr lang="en-IN" altLang="zh-CN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2" name="Picture 1" descr="activity_UM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6100" y="409575"/>
            <a:ext cx="6019800" cy="60388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/>
        </p:nvSpPr>
        <p:spPr>
          <a:xfrm>
            <a:off x="0" y="2786063"/>
            <a:ext cx="2960688" cy="652463"/>
          </a:xfrm>
          <a:prstGeom prst="rect">
            <a:avLst/>
          </a:prstGeom>
          <a:solidFill>
            <a:srgbClr val="3EB1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" name="任意多边形 20"/>
          <p:cNvSpPr/>
          <p:nvPr/>
        </p:nvSpPr>
        <p:spPr>
          <a:xfrm>
            <a:off x="8331200" y="3411538"/>
            <a:ext cx="3860800" cy="1233488"/>
          </a:xfrm>
          <a:custGeom>
            <a:avLst/>
            <a:gdLst>
              <a:gd name="connsiteX0" fmla="*/ 1422400 w 3759200"/>
              <a:gd name="connsiteY0" fmla="*/ 0 h 1799772"/>
              <a:gd name="connsiteX1" fmla="*/ 3759200 w 3759200"/>
              <a:gd name="connsiteY1" fmla="*/ 0 h 1799772"/>
              <a:gd name="connsiteX2" fmla="*/ 3759200 w 3759200"/>
              <a:gd name="connsiteY2" fmla="*/ 899886 h 1799772"/>
              <a:gd name="connsiteX3" fmla="*/ 2336800 w 3759200"/>
              <a:gd name="connsiteY3" fmla="*/ 899886 h 1799772"/>
              <a:gd name="connsiteX4" fmla="*/ 2336800 w 3759200"/>
              <a:gd name="connsiteY4" fmla="*/ 1799772 h 1799772"/>
              <a:gd name="connsiteX5" fmla="*/ 0 w 3759200"/>
              <a:gd name="connsiteY5" fmla="*/ 1799772 h 1799772"/>
              <a:gd name="connsiteX6" fmla="*/ 0 w 3759200"/>
              <a:gd name="connsiteY6" fmla="*/ 899886 h 1799772"/>
              <a:gd name="connsiteX7" fmla="*/ 1422400 w 3759200"/>
              <a:gd name="connsiteY7" fmla="*/ 899886 h 179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59200" h="1799772">
                <a:moveTo>
                  <a:pt x="1422400" y="0"/>
                </a:moveTo>
                <a:lnTo>
                  <a:pt x="3759200" y="0"/>
                </a:lnTo>
                <a:lnTo>
                  <a:pt x="3759200" y="899886"/>
                </a:lnTo>
                <a:lnTo>
                  <a:pt x="2336800" y="899886"/>
                </a:lnTo>
                <a:lnTo>
                  <a:pt x="2336800" y="1799772"/>
                </a:lnTo>
                <a:lnTo>
                  <a:pt x="0" y="1799772"/>
                </a:lnTo>
                <a:lnTo>
                  <a:pt x="0" y="899886"/>
                </a:lnTo>
                <a:lnTo>
                  <a:pt x="1422400" y="899886"/>
                </a:lnTo>
                <a:close/>
              </a:path>
            </a:pathLst>
          </a:custGeom>
          <a:solidFill>
            <a:srgbClr val="3EB1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9699" name="文本框 11"/>
          <p:cNvSpPr txBox="1"/>
          <p:nvPr/>
        </p:nvSpPr>
        <p:spPr>
          <a:xfrm>
            <a:off x="3446463" y="2633663"/>
            <a:ext cx="4414837" cy="132238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8000" b="1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THANKS</a:t>
            </a:r>
            <a:endParaRPr lang="zh-CN" altLang="en-US" sz="8000" b="1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0" y="2786063"/>
            <a:ext cx="2960688" cy="349250"/>
          </a:xfrm>
          <a:prstGeom prst="rect">
            <a:avLst/>
          </a:prstGeom>
          <a:solidFill>
            <a:srgbClr val="30302F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8331200" y="4340225"/>
            <a:ext cx="2438400" cy="304800"/>
          </a:xfrm>
          <a:prstGeom prst="rect">
            <a:avLst/>
          </a:prstGeom>
          <a:solidFill>
            <a:srgbClr val="30302F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9550400" y="3403600"/>
            <a:ext cx="2641600" cy="268288"/>
          </a:xfrm>
          <a:prstGeom prst="rect">
            <a:avLst/>
          </a:prstGeom>
          <a:solidFill>
            <a:srgbClr val="30302F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401*148"/>
  <p:tag name="TABLE_ENDDRAG_RECT" val="553*361*401*148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7501</Words>
  <Application>WPS Presentation</Application>
  <PresentationFormat/>
  <Paragraphs>196</Paragraphs>
  <Slides>22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0" baseType="lpstr">
      <vt:lpstr>Arial</vt:lpstr>
      <vt:lpstr>SimSun</vt:lpstr>
      <vt:lpstr>Wingdings</vt:lpstr>
      <vt:lpstr>Calibri</vt:lpstr>
      <vt:lpstr>Microsoft YaHei</vt:lpstr>
      <vt:lpstr>Arial Unicode MS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Deepak Dobbala</cp:lastModifiedBy>
  <cp:revision>41</cp:revision>
  <dcterms:created xsi:type="dcterms:W3CDTF">2015-07-07T12:57:00Z</dcterms:created>
  <dcterms:modified xsi:type="dcterms:W3CDTF">2025-11-25T06:40:38Z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2057-12.2.0.23158</vt:lpwstr>
  </property>
  <property fmtid="{D5CDD505-2E9C-101B-9397-08002B2CF9AE}" pid="3" name="ICV">
    <vt:lpwstr>8C97D99E7E7C49F0A93D23DD9ABB7E32_13</vt:lpwstr>
  </property>
</Properties>
</file>